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368" r:id="rId3"/>
    <p:sldId id="381" r:id="rId4"/>
    <p:sldId id="373" r:id="rId5"/>
    <p:sldId id="399" r:id="rId6"/>
    <p:sldId id="389" r:id="rId7"/>
    <p:sldId id="394" r:id="rId8"/>
    <p:sldId id="395" r:id="rId9"/>
    <p:sldId id="396" r:id="rId10"/>
    <p:sldId id="390" r:id="rId11"/>
    <p:sldId id="397" r:id="rId12"/>
    <p:sldId id="391" r:id="rId13"/>
    <p:sldId id="398" r:id="rId14"/>
    <p:sldId id="392" r:id="rId15"/>
    <p:sldId id="378" r:id="rId16"/>
    <p:sldId id="364" r:id="rId17"/>
    <p:sldId id="387" r:id="rId18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93B"/>
    <a:srgbClr val="F0EEF6"/>
    <a:srgbClr val="EFF0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6283" autoAdjust="0"/>
  </p:normalViewPr>
  <p:slideViewPr>
    <p:cSldViewPr>
      <p:cViewPr varScale="1">
        <p:scale>
          <a:sx n="109" d="100"/>
          <a:sy n="109" d="100"/>
        </p:scale>
        <p:origin x="151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2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Pasta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Pasta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DO CONTRATO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FD-4158-83F2-1C90336F05E8}"/>
              </c:ext>
            </c:extLst>
          </c:dPt>
          <c:dLbls>
            <c:dLbl>
              <c:idx val="0"/>
              <c:layout>
                <c:manualLayout>
                  <c:x val="6.0818194530109122E-3"/>
                  <c:y val="-3.20206814942312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145001130142625"/>
                      <c:h val="0.133259402818492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3BFD-4158-83F2-1C90336F05E8}"/>
                </c:ext>
              </c:extLst>
            </c:dLbl>
            <c:dLbl>
              <c:idx val="1"/>
              <c:layout>
                <c:manualLayout>
                  <c:x val="-1.2163399469024514E-2"/>
                  <c:y val="5.33678024903853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145666764995463"/>
                      <c:h val="0.191884143963639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BFD-4158-83F2-1C90336F05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Planilha1!$A$2:$A$3</c:f>
              <c:strCache>
                <c:ptCount val="2"/>
                <c:pt idx="0">
                  <c:v>Contrato NEO</c:v>
                </c:pt>
                <c:pt idx="1">
                  <c:v>Contrato QFROTAS</c:v>
                </c:pt>
              </c:strCache>
            </c:strRef>
          </c:cat>
          <c:val>
            <c:numRef>
              <c:f>Planilha1!$B$2:$B$3</c:f>
              <c:numCache>
                <c:formatCode>_("R$"* #,##0.00_);_("R$"* \(#,##0.00\);_("R$"* "-"??_);_(@_)</c:formatCode>
                <c:ptCount val="2"/>
                <c:pt idx="0">
                  <c:v>7079792.0199999996</c:v>
                </c:pt>
                <c:pt idx="1">
                  <c:v>19999999.98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FD-4158-83F2-1C90336F0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2843520"/>
        <c:axId val="156104320"/>
      </c:barChart>
      <c:catAx>
        <c:axId val="252843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6104320"/>
        <c:crosses val="autoZero"/>
        <c:auto val="1"/>
        <c:lblAlgn val="ctr"/>
        <c:lblOffset val="100"/>
        <c:noMultiLvlLbl val="0"/>
      </c:catAx>
      <c:valAx>
        <c:axId val="156104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R$&quot;* #,##0.00_);_(&quot;R$&quot;* \(#,##0.00\);_(&quot;R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52843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COTA MENSAL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703703703703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8B4-4CE2-9969-EA8D7FD18A24}"/>
                </c:ext>
              </c:extLst>
            </c:dLbl>
            <c:dLbl>
              <c:idx val="1"/>
              <c:layout>
                <c:manualLayout>
                  <c:x val="0"/>
                  <c:y val="-3.70370370370370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B4-4CE2-9969-EA8D7FD18A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Planilha1!$C$2:$C$3</c:f>
              <c:strCache>
                <c:ptCount val="2"/>
                <c:pt idx="0">
                  <c:v>15 MESES (NEO)</c:v>
                </c:pt>
                <c:pt idx="1">
                  <c:v>12 MESES (QFROTAS)</c:v>
                </c:pt>
              </c:strCache>
            </c:strRef>
          </c:cat>
          <c:val>
            <c:numRef>
              <c:f>Planilha1!$D$2:$D$3</c:f>
              <c:numCache>
                <c:formatCode>_("R$"* #,##0.00_);_("R$"* \(#,##0.00\);_("R$"* "-"??_);_(@_)</c:formatCode>
                <c:ptCount val="2"/>
                <c:pt idx="0">
                  <c:v>471986.13466666662</c:v>
                </c:pt>
                <c:pt idx="1">
                  <c:v>1666666.665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B4-4CE2-9969-EA8D7FD18A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2844032"/>
        <c:axId val="156106048"/>
      </c:barChart>
      <c:catAx>
        <c:axId val="252844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6106048"/>
        <c:crosses val="autoZero"/>
        <c:auto val="1"/>
        <c:lblAlgn val="ctr"/>
        <c:lblOffset val="100"/>
        <c:noMultiLvlLbl val="0"/>
      </c:catAx>
      <c:valAx>
        <c:axId val="156106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R$&quot;* #,##0.00_);_(&quot;R$&quot;* \(#,##0.00\);_(&quot;R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52844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E58F6-7151-468E-8967-E3D8D9DC315E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80BF2-DEEF-42B2-90AC-BD0077AC5A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70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660232" y="908720"/>
            <a:ext cx="763016" cy="36004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lternateGothic2 BT" panose="020B060802020205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59632" y="1484784"/>
            <a:ext cx="6400800" cy="5760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rgbClr val="38393B"/>
                </a:solidFill>
                <a:latin typeface="AlternateGothic2 BT" panose="020B060802020205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>
          <a:xfrm>
            <a:off x="323850" y="2349500"/>
            <a:ext cx="8640763" cy="3959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3839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3839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rgbClr val="3839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3839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rgbClr val="3839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3442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28649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028952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Aft>
                <a:spcPts val="0"/>
              </a:spcAft>
            </a:pPr>
            <a:fld id="{00000000-1234-1234-1234-123412341234}" type="slidenum">
              <a:rPr lang="pt-BR" smtClean="0"/>
              <a:pPr>
                <a:spcAft>
                  <a:spcPts val="0"/>
                </a:spcAft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02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9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AE022E-3EE8-D39B-6AD3-406B3804E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11282E3-22BB-47B1-BBA4-EDFAD6CD72B9}" type="datetimeFigureOut">
              <a:rPr lang="pt-BR"/>
              <a:pPr>
                <a:defRPr/>
              </a:pPr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FC06B9-2CDC-AADF-3D5C-71D59FD31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D4B608-A698-AAE3-FA20-ED148CE64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F3EE279-5626-4061-8417-BF2382E17036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4;p65">
            <a:extLst>
              <a:ext uri="{FF2B5EF4-FFF2-40B4-BE49-F238E27FC236}">
                <a16:creationId xmlns:a16="http://schemas.microsoft.com/office/drawing/2014/main" id="{162C6045-5FAD-4799-867F-F9EF231F45C8}"/>
              </a:ext>
            </a:extLst>
          </p:cNvPr>
          <p:cNvSpPr txBox="1"/>
          <p:nvPr/>
        </p:nvSpPr>
        <p:spPr>
          <a:xfrm>
            <a:off x="179512" y="1196752"/>
            <a:ext cx="8818446" cy="158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SECRETARIA DA SEGURANÇA PÚBLICA</a:t>
            </a:r>
            <a:b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POLÍCIA MILITAR DO ESTADO DE SÃO PAULO</a:t>
            </a:r>
            <a:b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CENTRO DE SUPRIMENTO E MANUTENÇÃO DO MATERIAL OPERACIONAL DE BOMBEIROS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CSM/MOpB</a:t>
            </a:r>
          </a:p>
        </p:txBody>
      </p:sp>
      <p:pic>
        <p:nvPicPr>
          <p:cNvPr id="5" name="Google Shape;376;p65">
            <a:extLst>
              <a:ext uri="{FF2B5EF4-FFF2-40B4-BE49-F238E27FC236}">
                <a16:creationId xmlns:a16="http://schemas.microsoft.com/office/drawing/2014/main" id="{C9E314BC-A65D-49F6-A996-CAFCD80A696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528" y="3140968"/>
            <a:ext cx="2925846" cy="2952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90F06CE-056F-499D-AF11-804F5D15D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080" y="342200"/>
            <a:ext cx="550878" cy="731144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2771800" y="3886525"/>
            <a:ext cx="367240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latin typeface="Century Gothic"/>
                <a:ea typeface="Century Gothic"/>
                <a:cs typeface="Century Gothic"/>
                <a:sym typeface="Century Gothic"/>
              </a:rPr>
              <a:t>SETOR DE SERVIÇOS TERCEIRIZADOS</a:t>
            </a:r>
          </a:p>
          <a:p>
            <a:pPr algn="ctr"/>
            <a:r>
              <a:rPr lang="pt-BR" b="1" dirty="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algn="ctr"/>
            <a:endParaRPr lang="pt-BR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" name="Imagem 8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328" y="3694601"/>
            <a:ext cx="1630239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402;p66"/>
          <p:cNvSpPr txBox="1"/>
          <p:nvPr/>
        </p:nvSpPr>
        <p:spPr>
          <a:xfrm>
            <a:off x="0" y="1573812"/>
            <a:ext cx="9144000" cy="286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525" marR="3810" algn="ctr">
              <a:spcBef>
                <a:spcPts val="0"/>
              </a:spcBef>
              <a:spcAft>
                <a:spcPts val="0"/>
              </a:spcAft>
            </a:pPr>
            <a:endParaRPr lang="pt-BR" sz="2000" dirty="0"/>
          </a:p>
          <a:p>
            <a:pPr marL="9525" marR="3810" algn="ctr">
              <a:spcBef>
                <a:spcPts val="0"/>
              </a:spcBef>
              <a:spcAft>
                <a:spcPts val="0"/>
              </a:spcAft>
            </a:pPr>
            <a:endParaRPr lang="pt-BR" sz="2000" dirty="0"/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00"/>
                </a:solidFill>
              </a:rPr>
              <a:t>                  </a:t>
            </a:r>
            <a:r>
              <a:rPr lang="pt-BR" sz="2000" b="1" dirty="0">
                <a:solidFill>
                  <a:srgbClr val="FF0000"/>
                </a:solidFill>
              </a:rPr>
              <a:t>Novo Contrato de Gerenciamento da Manutenção de Frota          </a:t>
            </a:r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r>
              <a:rPr lang="pt-BR" sz="2000" b="1" dirty="0">
                <a:solidFill>
                  <a:srgbClr val="FF0000"/>
                </a:solidFill>
              </a:rPr>
              <a:t>                                               </a:t>
            </a:r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r>
              <a:rPr lang="pt-BR" sz="2000" b="1" dirty="0">
                <a:solidFill>
                  <a:srgbClr val="FF0000"/>
                </a:solidFill>
              </a:rPr>
              <a:t>                                                </a:t>
            </a:r>
          </a:p>
          <a:p>
            <a:pPr marL="9525" marR="3810" algn="ctr">
              <a:defRPr sz="2000">
                <a:solidFill>
                  <a:srgbClr val="000000"/>
                </a:solidFill>
              </a:defRPr>
            </a:pPr>
            <a:r>
              <a:rPr lang="pt-BR" sz="2000" b="1" dirty="0">
                <a:solidFill>
                  <a:srgbClr val="FF0000"/>
                </a:solidFill>
              </a:rPr>
              <a:t>Instrução aos Setores de </a:t>
            </a:r>
            <a:r>
              <a:rPr lang="pt-BR" sz="2000" b="1" dirty="0" err="1">
                <a:solidFill>
                  <a:srgbClr val="FF0000"/>
                </a:solidFill>
              </a:rPr>
              <a:t>Motomecanização</a:t>
            </a:r>
            <a:r>
              <a:rPr lang="pt-BR" sz="2000" b="1" dirty="0">
                <a:solidFill>
                  <a:srgbClr val="FF0000"/>
                </a:solidFill>
              </a:rPr>
              <a:t> </a:t>
            </a:r>
          </a:p>
          <a:p>
            <a:pPr marL="9525" marR="3810" algn="ctr">
              <a:defRPr sz="2000">
                <a:solidFill>
                  <a:srgbClr val="000000"/>
                </a:solidFill>
              </a:defRPr>
            </a:pPr>
            <a:endParaRPr lang="pt-BR" sz="2000" b="1" dirty="0">
              <a:solidFill>
                <a:srgbClr val="FF0000"/>
              </a:solidFill>
            </a:endParaRPr>
          </a:p>
          <a:p>
            <a:pPr marL="9525" marR="3810" algn="ctr">
              <a:defRPr sz="2000">
                <a:solidFill>
                  <a:srgbClr val="000000"/>
                </a:solidFill>
              </a:defRPr>
            </a:pPr>
            <a:endParaRPr lang="pt-BR" sz="2000" b="1" dirty="0">
              <a:solidFill>
                <a:srgbClr val="FF0000"/>
              </a:solidFill>
            </a:endParaRPr>
          </a:p>
          <a:p>
            <a:pPr marL="9525" marR="3810" algn="ctr">
              <a:defRPr sz="2000">
                <a:solidFill>
                  <a:srgbClr val="000000"/>
                </a:solidFill>
              </a:defRPr>
            </a:pPr>
            <a:r>
              <a:rPr lang="pt-BR" sz="2000" b="1" dirty="0">
                <a:solidFill>
                  <a:srgbClr val="FF0000"/>
                </a:solidFill>
              </a:rPr>
              <a:t>Sistema Plataforma QFROTAS</a:t>
            </a:r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00"/>
              </a:solidFill>
            </a:endParaRPr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00"/>
              </a:solidFill>
            </a:endParaRPr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00"/>
              </a:solidFill>
            </a:endParaRPr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00"/>
              </a:solidFill>
            </a:endParaRPr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00"/>
              </a:solidFill>
            </a:endParaRPr>
          </a:p>
          <a:p>
            <a:pPr marL="9525" marR="3810">
              <a:defRPr sz="20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00"/>
                </a:solidFill>
              </a:rPr>
              <a:t>                         </a:t>
            </a:r>
            <a:r>
              <a:rPr lang="pt-BR" sz="2000" b="1" dirty="0">
                <a:solidFill>
                  <a:srgbClr val="000000"/>
                </a:solidFill>
              </a:rPr>
              <a:t>Nota de Instrução Nº CSM/MOpB-003/210/2026</a:t>
            </a:r>
          </a:p>
          <a:p>
            <a:pPr marL="9525" marR="3810" algn="ctr">
              <a:spcBef>
                <a:spcPts val="0"/>
              </a:spcBef>
              <a:spcAft>
                <a:spcPts val="0"/>
              </a:spcAft>
            </a:pPr>
            <a:r>
              <a:rPr lang="pt-BR" sz="2000" dirty="0"/>
              <a:t> </a:t>
            </a:r>
            <a:endParaRPr sz="21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043608" y="3105835"/>
            <a:ext cx="73448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       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47881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402;p66"/>
          <p:cNvSpPr txBox="1"/>
          <p:nvPr/>
        </p:nvSpPr>
        <p:spPr>
          <a:xfrm>
            <a:off x="375454" y="1573813"/>
            <a:ext cx="159000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525" marR="3810" algn="ctr">
              <a:spcBef>
                <a:spcPts val="0"/>
              </a:spcBef>
              <a:spcAft>
                <a:spcPts val="0"/>
              </a:spcAft>
            </a:pPr>
            <a:endParaRPr sz="21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DA5BF2-59C4-C149-739B-355DDE2A497E}"/>
              </a:ext>
            </a:extLst>
          </p:cNvPr>
          <p:cNvSpPr txBox="1"/>
          <p:nvPr/>
        </p:nvSpPr>
        <p:spPr>
          <a:xfrm>
            <a:off x="107504" y="1068546"/>
            <a:ext cx="892899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pt-BR" dirty="0"/>
              <a:t>                                         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dirty="0"/>
              <a:t> </a:t>
            </a:r>
            <a:r>
              <a:rPr lang="pt-BR" sz="2000" b="1" u="sng" dirty="0">
                <a:solidFill>
                  <a:srgbClr val="FF0000"/>
                </a:solidFill>
              </a:rPr>
              <a:t>Objetivos da Instrução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sz="20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00"/>
                </a:solidFill>
              </a:rPr>
              <a:t>Compreender o novo modelo de gestão da frota;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sz="2000" dirty="0"/>
              <a:t>Padronizar procedimentos;</a:t>
            </a:r>
            <a:endParaRPr lang="pt-BR" sz="20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Aumentar a disponibilidade operacional;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sz="2000" dirty="0"/>
              <a:t>Melhorar o controle da manutenção;</a:t>
            </a: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Reduzir falhas administrativas</a:t>
            </a:r>
            <a:r>
              <a:rPr lang="pt-BR" sz="2000" dirty="0">
                <a:solidFill>
                  <a:srgbClr val="000000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Regulamentar e unificar procedimentos;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00"/>
                </a:solidFill>
              </a:rPr>
              <a:t>Padronizar auditorias;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sz="2000" dirty="0"/>
              <a:t>Assegurar transparência na aplicação dos recursos públicos;</a:t>
            </a:r>
            <a:endParaRPr lang="pt-BR" sz="20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00"/>
                </a:solidFill>
              </a:rPr>
              <a:t>Garantir a </a:t>
            </a:r>
            <a:r>
              <a:rPr lang="pt-BR" sz="2000" dirty="0"/>
              <a:t>disponibilidade da frota</a:t>
            </a:r>
            <a:r>
              <a:rPr lang="pt-BR" sz="2000" dirty="0">
                <a:solidFill>
                  <a:srgbClr val="000000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00"/>
              </a:solidFill>
            </a:endParaRPr>
          </a:p>
          <a:p>
            <a:pPr algn="ctr"/>
            <a:r>
              <a:rPr lang="pt-BR" sz="2000" b="1" u="sng" dirty="0">
                <a:solidFill>
                  <a:srgbClr val="FF0000"/>
                </a:solidFill>
              </a:rPr>
              <a:t>Mensagem principal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A </a:t>
            </a:r>
            <a:r>
              <a:rPr lang="pt-BR" sz="2000" dirty="0" err="1"/>
              <a:t>Motomec</a:t>
            </a:r>
            <a:r>
              <a:rPr lang="pt-BR" sz="2000" dirty="0"/>
              <a:t> deixa de negociar oficinas e passa a fiscalizar tecnicamente toda a manutenção.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00"/>
              </a:solidFill>
            </a:endParaRP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6810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7DA5BF2-59C4-C149-739B-355DDE2A497E}"/>
              </a:ext>
            </a:extLst>
          </p:cNvPr>
          <p:cNvSpPr txBox="1"/>
          <p:nvPr/>
        </p:nvSpPr>
        <p:spPr>
          <a:xfrm>
            <a:off x="179512" y="1007640"/>
            <a:ext cx="878497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pt-BR" dirty="0"/>
              <a:t>                                        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dirty="0"/>
              <a:t>   </a:t>
            </a:r>
            <a:r>
              <a:rPr lang="pt-BR" b="1" dirty="0">
                <a:solidFill>
                  <a:srgbClr val="FF0000"/>
                </a:solidFill>
              </a:rPr>
              <a:t>Contexto Estratégico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pt-BR" dirty="0"/>
              <a:t>Por que o CBPMESP adotou a quarteirização?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Disponibilidade operacional;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Economicidade;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Controle e transparência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sz="2000" b="1" dirty="0">
                <a:solidFill>
                  <a:srgbClr val="FF0000"/>
                </a:solidFill>
              </a:rPr>
              <a:t>Modelo de Contratação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Gestão Compartilhada de Manutenção (Quarteirização)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Valor contratual: R$ 19.999.999,98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Vigência inicial: 12 meses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algn="ctr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373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2740EAB-5D2F-41F5-8D50-8FBC2D9FA87C}"/>
              </a:ext>
            </a:extLst>
          </p:cNvPr>
          <p:cNvSpPr txBox="1"/>
          <p:nvPr/>
        </p:nvSpPr>
        <p:spPr>
          <a:xfrm>
            <a:off x="3347864" y="119675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u="sng" dirty="0">
                <a:solidFill>
                  <a:srgbClr val="FF0000"/>
                </a:solidFill>
              </a:rPr>
              <a:t>Evolução contratual</a:t>
            </a:r>
            <a:endParaRPr lang="pt-BR" u="sng" dirty="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88D9AA8-36D3-45EA-B851-3FD38949B4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5124820"/>
              </p:ext>
            </p:extLst>
          </p:nvPr>
        </p:nvGraphicFramePr>
        <p:xfrm>
          <a:off x="251520" y="1916832"/>
          <a:ext cx="4176464" cy="2379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98FC5539-6F58-4FBE-9EB4-E18695A4CD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3989651"/>
              </p:ext>
            </p:extLst>
          </p:nvPr>
        </p:nvGraphicFramePr>
        <p:xfrm>
          <a:off x="4734272" y="1916832"/>
          <a:ext cx="4086200" cy="2379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E56E80AF-C64C-4807-B8F2-7C19BA64FAAB}"/>
              </a:ext>
            </a:extLst>
          </p:cNvPr>
          <p:cNvSpPr txBox="1"/>
          <p:nvPr/>
        </p:nvSpPr>
        <p:spPr>
          <a:xfrm>
            <a:off x="395536" y="4653136"/>
            <a:ext cx="40324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u="sng" dirty="0"/>
              <a:t>NOTA:</a:t>
            </a:r>
          </a:p>
          <a:p>
            <a:endParaRPr lang="pt-BR" sz="1400" u="sng" dirty="0"/>
          </a:p>
          <a:p>
            <a:r>
              <a:rPr lang="pt-BR" sz="1400" dirty="0"/>
              <a:t>* Reajuste Contratual:  R$ 12.920.207,96</a:t>
            </a:r>
          </a:p>
          <a:p>
            <a:r>
              <a:rPr lang="pt-BR" sz="1400" dirty="0"/>
              <a:t>* Reajuste Percentual: 182,49%</a:t>
            </a:r>
          </a:p>
          <a:p>
            <a:r>
              <a:rPr lang="pt-BR" sz="1400" dirty="0"/>
              <a:t>* Redução da extensão do contrato</a:t>
            </a:r>
          </a:p>
          <a:p>
            <a:r>
              <a:rPr lang="pt-BR" sz="1400" dirty="0"/>
              <a:t>* Aumento da Cota Mensal</a:t>
            </a:r>
          </a:p>
        </p:txBody>
      </p:sp>
    </p:spTree>
    <p:extLst>
      <p:ext uri="{BB962C8B-B14F-4D97-AF65-F5344CB8AC3E}">
        <p14:creationId xmlns:p14="http://schemas.microsoft.com/office/powerpoint/2010/main" val="2919551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7DA5BF2-59C4-C149-739B-355DDE2A497E}"/>
              </a:ext>
            </a:extLst>
          </p:cNvPr>
          <p:cNvSpPr txBox="1"/>
          <p:nvPr/>
        </p:nvSpPr>
        <p:spPr>
          <a:xfrm>
            <a:off x="179512" y="980728"/>
            <a:ext cx="871296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Abrangência da Frota</a:t>
            </a:r>
          </a:p>
          <a:p>
            <a:pPr algn="ctr"/>
            <a:endParaRPr lang="pt-BR" u="sng" dirty="0"/>
          </a:p>
          <a:p>
            <a:pPr algn="ctr"/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Veículos leves, pesados e motocicletas;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Reboques e semirreboques;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Tratores, empilhadeiras e embarcações.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Diretrizes de Qualidade</a:t>
            </a: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Prioridade para peças genuínas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Peças originais somente mediante autorização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Proibição absoluta de peças paralelas</a:t>
            </a:r>
          </a:p>
          <a:p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48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51520" y="1028343"/>
            <a:ext cx="864096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dirty="0"/>
          </a:p>
          <a:p>
            <a:pPr algn="ctr"/>
            <a:r>
              <a:rPr lang="pt-BR" dirty="0"/>
              <a:t> </a:t>
            </a:r>
            <a:r>
              <a:rPr lang="pt-BR" b="1" u="sng" dirty="0">
                <a:solidFill>
                  <a:srgbClr val="FF0000"/>
                </a:solidFill>
              </a:rPr>
              <a:t>Competência de cada setor</a:t>
            </a: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      Setor                                                        Responsabilidade</a:t>
            </a:r>
          </a:p>
          <a:p>
            <a:endParaRPr lang="pt-BR" dirty="0"/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 err="1"/>
              <a:t>Motomec</a:t>
            </a:r>
            <a:r>
              <a:rPr lang="pt-BR" dirty="0"/>
              <a:t>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 Fiscalização Técnica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Condutor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Entrega e Retirada da Viatura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Oficina    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Executar o Reparo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Gerenciadora                                       </a:t>
            </a: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Negociação, auditoria e gerenciamento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Gestor Geral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Aprova grandes valores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Administrador                                        </a:t>
            </a: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Gestão do sistema e faturamento</a:t>
            </a:r>
          </a:p>
        </p:txBody>
      </p:sp>
    </p:spTree>
    <p:extLst>
      <p:ext uri="{BB962C8B-B14F-4D97-AF65-F5344CB8AC3E}">
        <p14:creationId xmlns:p14="http://schemas.microsoft.com/office/powerpoint/2010/main" val="3657886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3528" y="980728"/>
            <a:ext cx="8568952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dirty="0"/>
              <a:t> </a:t>
            </a:r>
            <a:r>
              <a:rPr lang="pt-BR" b="1" u="sng" dirty="0">
                <a:solidFill>
                  <a:srgbClr val="FF0000"/>
                </a:solidFill>
              </a:rPr>
              <a:t>Competências das </a:t>
            </a:r>
            <a:r>
              <a:rPr lang="pt-BR" b="1" u="sng" dirty="0" err="1">
                <a:solidFill>
                  <a:srgbClr val="FF0000"/>
                </a:solidFill>
              </a:rPr>
              <a:t>Motomecs</a:t>
            </a:r>
            <a:endParaRPr lang="pt-BR" b="1" u="sng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Abrir Ordem de Serviço;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Analisar orçamento;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Conferir peças;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Conferir serviços;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Controlar garantias;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Fiscalizar prazos;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Fiscalizar execução;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Comunicar irregularidades.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00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b="1" u="sng" dirty="0">
                <a:solidFill>
                  <a:srgbClr val="FF0000"/>
                </a:solidFill>
              </a:rPr>
              <a:t>NÃO Compete as </a:t>
            </a:r>
            <a:r>
              <a:rPr lang="pt-BR" b="1" u="sng" dirty="0" err="1">
                <a:solidFill>
                  <a:srgbClr val="FF0000"/>
                </a:solidFill>
              </a:rPr>
              <a:t>Motomecs</a:t>
            </a:r>
            <a:endParaRPr lang="pt-BR" b="1" u="sng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❌ </a:t>
            </a:r>
            <a:r>
              <a:rPr lang="pt-BR" dirty="0">
                <a:solidFill>
                  <a:srgbClr val="38393B"/>
                </a:solidFill>
              </a:rPr>
              <a:t>negociar preços;</a:t>
            </a:r>
          </a:p>
          <a:p>
            <a:r>
              <a:rPr lang="pt-BR" dirty="0">
                <a:solidFill>
                  <a:srgbClr val="FF0000"/>
                </a:solidFill>
              </a:rPr>
              <a:t>❌ </a:t>
            </a:r>
            <a:r>
              <a:rPr lang="pt-BR" dirty="0">
                <a:solidFill>
                  <a:srgbClr val="38393B"/>
                </a:solidFill>
              </a:rPr>
              <a:t>negociar descontos;</a:t>
            </a:r>
          </a:p>
          <a:p>
            <a:r>
              <a:rPr lang="pt-BR" dirty="0">
                <a:solidFill>
                  <a:srgbClr val="FF0000"/>
                </a:solidFill>
              </a:rPr>
              <a:t>❌ </a:t>
            </a:r>
            <a:r>
              <a:rPr lang="pt-BR" dirty="0">
                <a:solidFill>
                  <a:srgbClr val="38393B"/>
                </a:solidFill>
              </a:rPr>
              <a:t>autorizar serviços verbalmente;</a:t>
            </a:r>
          </a:p>
          <a:p>
            <a:r>
              <a:rPr lang="pt-BR" dirty="0">
                <a:solidFill>
                  <a:srgbClr val="FF0000"/>
                </a:solidFill>
              </a:rPr>
              <a:t>❌ </a:t>
            </a:r>
            <a:r>
              <a:rPr lang="pt-BR" dirty="0">
                <a:solidFill>
                  <a:srgbClr val="38393B"/>
                </a:solidFill>
              </a:rPr>
              <a:t>permitir execução sem aprovação;</a:t>
            </a:r>
          </a:p>
          <a:p>
            <a:r>
              <a:rPr lang="pt-BR" dirty="0">
                <a:solidFill>
                  <a:srgbClr val="FF0000"/>
                </a:solidFill>
              </a:rPr>
              <a:t>❌ </a:t>
            </a:r>
            <a:r>
              <a:rPr lang="pt-BR" dirty="0">
                <a:solidFill>
                  <a:srgbClr val="38393B"/>
                </a:solidFill>
              </a:rPr>
              <a:t>aceitar peças paralelas;</a:t>
            </a:r>
          </a:p>
          <a:p>
            <a:r>
              <a:rPr lang="pt-BR" dirty="0">
                <a:solidFill>
                  <a:srgbClr val="FF0000"/>
                </a:solidFill>
              </a:rPr>
              <a:t>❌ </a:t>
            </a:r>
            <a:r>
              <a:rPr lang="pt-BR" dirty="0">
                <a:solidFill>
                  <a:srgbClr val="38393B"/>
                </a:solidFill>
              </a:rPr>
              <a:t>liberar serviço incompleto.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097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23528" y="674400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dirty="0"/>
              <a:t> 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b="1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b="1" dirty="0">
                <a:solidFill>
                  <a:srgbClr val="FF0000"/>
                </a:solidFill>
              </a:rPr>
              <a:t>Fluxograma da Manutenção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Problema na viatura                    Abertura da O.S.                     Indicação da oficina</a:t>
            </a:r>
          </a:p>
          <a:p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Check-in Diagnóstico                   </a:t>
            </a:r>
            <a:r>
              <a:rPr lang="pt-BR" dirty="0">
                <a:solidFill>
                  <a:srgbClr val="38393B"/>
                </a:solidFill>
              </a:rPr>
              <a:t>Orçamentação                       Análise da </a:t>
            </a:r>
            <a:r>
              <a:rPr lang="pt-BR" dirty="0" err="1">
                <a:solidFill>
                  <a:srgbClr val="38393B"/>
                </a:solidFill>
              </a:rPr>
              <a:t>Motomec</a:t>
            </a:r>
            <a:endParaRPr lang="pt-BR" dirty="0">
              <a:solidFill>
                <a:srgbClr val="38393B"/>
              </a:solidFill>
            </a:endParaRPr>
          </a:p>
          <a:p>
            <a:endParaRPr lang="pt-BR" dirty="0">
              <a:solidFill>
                <a:srgbClr val="38393B"/>
              </a:solidFill>
            </a:endParaRPr>
          </a:p>
          <a:p>
            <a:endParaRPr lang="pt-BR" dirty="0">
              <a:solidFill>
                <a:srgbClr val="38393B"/>
              </a:solidFill>
            </a:endParaRPr>
          </a:p>
          <a:p>
            <a:endParaRPr lang="pt-BR" dirty="0">
              <a:solidFill>
                <a:srgbClr val="38393B"/>
              </a:solidFill>
            </a:endParaRPr>
          </a:p>
          <a:p>
            <a:r>
              <a:rPr lang="pt-BR" dirty="0">
                <a:solidFill>
                  <a:srgbClr val="38393B"/>
                </a:solidFill>
              </a:rPr>
              <a:t>Aprovação                                        Execução                                         </a:t>
            </a:r>
            <a:r>
              <a:rPr lang="pt-BR" dirty="0" err="1">
                <a:solidFill>
                  <a:srgbClr val="38393B"/>
                </a:solidFill>
              </a:rPr>
              <a:t>Check</a:t>
            </a:r>
            <a:r>
              <a:rPr lang="pt-BR" dirty="0">
                <a:solidFill>
                  <a:srgbClr val="38393B"/>
                </a:solidFill>
              </a:rPr>
              <a:t>-out</a:t>
            </a:r>
          </a:p>
          <a:p>
            <a:endParaRPr lang="pt-BR" dirty="0">
              <a:solidFill>
                <a:srgbClr val="38393B"/>
              </a:solidFill>
            </a:endParaRPr>
          </a:p>
          <a:p>
            <a:endParaRPr lang="pt-BR" dirty="0">
              <a:solidFill>
                <a:srgbClr val="38393B"/>
              </a:solidFill>
            </a:endParaRPr>
          </a:p>
          <a:p>
            <a:endParaRPr lang="pt-BR" dirty="0">
              <a:solidFill>
                <a:srgbClr val="38393B"/>
              </a:solidFill>
            </a:endParaRPr>
          </a:p>
          <a:p>
            <a:pPr algn="ctr"/>
            <a:r>
              <a:rPr lang="pt-BR" sz="2800" b="1" dirty="0">
                <a:solidFill>
                  <a:srgbClr val="00B050"/>
                </a:solidFill>
              </a:rPr>
              <a:t>Recebimento da Viatura</a:t>
            </a:r>
          </a:p>
        </p:txBody>
      </p:sp>
      <p:sp>
        <p:nvSpPr>
          <p:cNvPr id="16" name="Seta para a direita 15"/>
          <p:cNvSpPr/>
          <p:nvPr/>
        </p:nvSpPr>
        <p:spPr>
          <a:xfrm>
            <a:off x="2627784" y="2273319"/>
            <a:ext cx="1008112" cy="117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 para a direita 16"/>
          <p:cNvSpPr/>
          <p:nvPr/>
        </p:nvSpPr>
        <p:spPr>
          <a:xfrm>
            <a:off x="5508104" y="3356991"/>
            <a:ext cx="1008112" cy="117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a direita 17"/>
          <p:cNvSpPr/>
          <p:nvPr/>
        </p:nvSpPr>
        <p:spPr>
          <a:xfrm>
            <a:off x="2699792" y="3356990"/>
            <a:ext cx="1008112" cy="117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 para a direita 18"/>
          <p:cNvSpPr/>
          <p:nvPr/>
        </p:nvSpPr>
        <p:spPr>
          <a:xfrm>
            <a:off x="5580112" y="2273318"/>
            <a:ext cx="1008112" cy="117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a direita 19"/>
          <p:cNvSpPr/>
          <p:nvPr/>
        </p:nvSpPr>
        <p:spPr>
          <a:xfrm>
            <a:off x="1619672" y="4489134"/>
            <a:ext cx="2304256" cy="117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a direita 20"/>
          <p:cNvSpPr/>
          <p:nvPr/>
        </p:nvSpPr>
        <p:spPr>
          <a:xfrm>
            <a:off x="5220072" y="4489133"/>
            <a:ext cx="2304256" cy="117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em curva para a direita 22"/>
          <p:cNvSpPr/>
          <p:nvPr/>
        </p:nvSpPr>
        <p:spPr>
          <a:xfrm>
            <a:off x="866430" y="5010567"/>
            <a:ext cx="576064" cy="129614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4" name="Seta em curva para a esquerda 23"/>
          <p:cNvSpPr/>
          <p:nvPr/>
        </p:nvSpPr>
        <p:spPr>
          <a:xfrm>
            <a:off x="7812360" y="5010567"/>
            <a:ext cx="576064" cy="127191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9512" y="980728"/>
            <a:ext cx="8496944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endParaRPr lang="pt-BR" b="1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b="1" u="sng" dirty="0">
                <a:solidFill>
                  <a:srgbClr val="FF0000"/>
                </a:solidFill>
              </a:rPr>
              <a:t>Responsabilidades do Condutor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transportar a viatura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realizar check-in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preencher </a:t>
            </a:r>
            <a:r>
              <a:rPr lang="pt-BR" dirty="0" err="1"/>
              <a:t>checklist</a:t>
            </a:r>
            <a:endParaRPr lang="pt-BR" dirty="0"/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testar veículo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realizar </a:t>
            </a:r>
            <a:r>
              <a:rPr lang="pt-BR" dirty="0" err="1"/>
              <a:t>check</a:t>
            </a:r>
            <a:r>
              <a:rPr lang="pt-BR" dirty="0"/>
              <a:t>-out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recolher peças substituídas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inserir senha no sistema</a:t>
            </a:r>
          </a:p>
          <a:p>
            <a:endParaRPr lang="pt-BR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b="1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sz="2000" b="1" u="sng" dirty="0">
                <a:solidFill>
                  <a:srgbClr val="FF0000"/>
                </a:solidFill>
              </a:rPr>
              <a:t>Check-in Obrigatório Antes da Entrega</a:t>
            </a:r>
            <a:endParaRPr lang="pt-BR" b="1" u="sng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conferir avarias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combustível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acessórios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equipamentos</a:t>
            </a: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fotografias (quando necessário)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50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51520" y="812899"/>
            <a:ext cx="864096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endParaRPr lang="pt-BR" b="1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sz="6000" b="1" dirty="0">
                <a:solidFill>
                  <a:srgbClr val="FF0000"/>
                </a:solidFill>
              </a:rPr>
              <a:t>IMPORTANTE !!!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dirty="0"/>
              <a:t>SE A OFICINA SE RECUSAR A PREENCHER O CHECKLIST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sz="2000" b="1" dirty="0">
                <a:solidFill>
                  <a:srgbClr val="FF0000"/>
                </a:solidFill>
              </a:rPr>
              <a:t>NÃO ENTREGAR A VIATURA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sz="2000" b="1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sz="2000" b="1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00"/>
                </a:solidFill>
              </a:rPr>
              <a:t>COMUNICAR IMEDIATAMENTE A MOTOMEC.</a:t>
            </a:r>
            <a:endParaRPr lang="pt-BR" sz="2000" b="1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sz="2000" b="1" dirty="0">
              <a:solidFill>
                <a:srgbClr val="FF0000"/>
              </a:solidFill>
            </a:endParaRP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44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251520" y="1052736"/>
            <a:ext cx="856895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b="1" u="sng" dirty="0">
              <a:solidFill>
                <a:srgbClr val="FF0000"/>
              </a:solidFill>
            </a:endParaRPr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Orçamentação</a:t>
            </a:r>
          </a:p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Prazos diferenciados por categoria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Diagnóstico comum e complexo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dirty="0"/>
              <a:t>Reavaliação em até 2 dias úteis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endParaRPr lang="pt-BR" dirty="0"/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Cotação de Mercado</a:t>
            </a:r>
          </a:p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sz="2000" dirty="0"/>
              <a:t>3 (três) orçamentos obrigatórios acima dos limites;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sz="2000" dirty="0"/>
              <a:t>Leves: R$ 1.200;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sz="2000" dirty="0"/>
              <a:t>Utilitários: R$ 2.000;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pt-BR" sz="2000" dirty="0"/>
              <a:t>Pesados: R$ 3.000.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endParaRPr lang="pt-BR" sz="2000" dirty="0"/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Regra dos 60%</a:t>
            </a:r>
          </a:p>
          <a:p>
            <a:pPr algn="ctr"/>
            <a:endParaRPr lang="pt-BR" dirty="0"/>
          </a:p>
          <a:p>
            <a:pPr>
              <a:defRPr sz="2000"/>
            </a:pPr>
            <a:r>
              <a:rPr lang="pt-BR" dirty="0"/>
              <a:t>•   Bloqueio quando o custo acumulado atingir 60% do valor venal</a:t>
            </a:r>
          </a:p>
          <a:p>
            <a:pPr>
              <a:defRPr sz="2000"/>
            </a:pPr>
            <a:r>
              <a:rPr lang="pt-BR" dirty="0"/>
              <a:t>•   Necessidade de parecer técnico e autorização do Gestor Geral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30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23528" y="1052736"/>
            <a:ext cx="856895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b="1" u="sng" dirty="0">
              <a:solidFill>
                <a:srgbClr val="FF0000"/>
              </a:solidFill>
            </a:endParaRPr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Prazos Contratuais</a:t>
            </a: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r>
              <a:rPr lang="pt-BR" dirty="0"/>
              <a:t>           </a:t>
            </a:r>
            <a:r>
              <a:rPr lang="pt-BR" b="1" dirty="0"/>
              <a:t>Etapas</a:t>
            </a:r>
            <a:r>
              <a:rPr lang="pt-BR" dirty="0"/>
              <a:t>	                                                                          </a:t>
            </a:r>
            <a:r>
              <a:rPr lang="pt-BR" b="1" dirty="0"/>
              <a:t>Prazos</a:t>
            </a:r>
            <a:r>
              <a:rPr lang="pt-BR" dirty="0"/>
              <a:t>       </a:t>
            </a:r>
          </a:p>
          <a:p>
            <a:r>
              <a:rPr lang="pt-BR" dirty="0"/>
              <a:t>                                                                   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Indicação da oficina                  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3 horas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Diagnóstico simples                  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3 dias úteis</a:t>
            </a:r>
          </a:p>
          <a:p>
            <a:r>
              <a:rPr lang="pt-BR" dirty="0"/>
              <a:t>	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Diagnóstico pesado                  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4 dias úteis</a:t>
            </a:r>
          </a:p>
          <a:p>
            <a:r>
              <a:rPr lang="pt-BR" dirty="0"/>
              <a:t>	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Diagnóstico complexo              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até 6 dias</a:t>
            </a:r>
          </a:p>
          <a:p>
            <a:r>
              <a:rPr lang="pt-BR" dirty="0"/>
              <a:t>	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Manutenção preventiva            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15 dias</a:t>
            </a:r>
          </a:p>
          <a:p>
            <a:r>
              <a:rPr lang="pt-BR" dirty="0"/>
              <a:t>	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Manutenção corretiva	                                                         </a:t>
            </a: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30 dias</a:t>
            </a:r>
          </a:p>
        </p:txBody>
      </p:sp>
    </p:spTree>
    <p:extLst>
      <p:ext uri="{BB962C8B-B14F-4D97-AF65-F5344CB8AC3E}">
        <p14:creationId xmlns:p14="http://schemas.microsoft.com/office/powerpoint/2010/main" val="219134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3528" y="751344"/>
            <a:ext cx="856895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/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Peças Permitidas</a:t>
            </a: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Genuína  - Prioridade</a:t>
            </a:r>
          </a:p>
          <a:p>
            <a:endParaRPr lang="pt-BR" dirty="0"/>
          </a:p>
          <a:p>
            <a:r>
              <a:rPr lang="pt-BR" dirty="0">
                <a:solidFill>
                  <a:srgbClr val="FFC000"/>
                </a:solidFill>
              </a:rPr>
              <a:t>✔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Original - Com Autorização</a:t>
            </a:r>
          </a:p>
          <a:p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❌ </a:t>
            </a:r>
            <a:r>
              <a:rPr lang="pt-BR" dirty="0"/>
              <a:t>Paralela - </a:t>
            </a:r>
            <a:r>
              <a:rPr lang="pt-BR" dirty="0">
                <a:solidFill>
                  <a:srgbClr val="FF0000"/>
                </a:solidFill>
              </a:rPr>
              <a:t>Proibida</a:t>
            </a:r>
          </a:p>
          <a:p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❌ </a:t>
            </a:r>
            <a:r>
              <a:rPr lang="pt-BR" dirty="0" err="1"/>
              <a:t>Remanufaturada</a:t>
            </a:r>
            <a:r>
              <a:rPr lang="pt-BR" dirty="0"/>
              <a:t> - </a:t>
            </a:r>
            <a:r>
              <a:rPr lang="pt-BR" dirty="0">
                <a:solidFill>
                  <a:srgbClr val="FF0000"/>
                </a:solidFill>
              </a:rPr>
              <a:t>Proibida</a:t>
            </a:r>
          </a:p>
          <a:p>
            <a:endParaRPr lang="pt-BR" dirty="0"/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pt-BR" b="1" u="sng" dirty="0">
                <a:solidFill>
                  <a:srgbClr val="FF0000"/>
                </a:solidFill>
              </a:rPr>
              <a:t>Garantia dos Serviços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00B050"/>
                </a:solidFill>
              </a:rPr>
              <a:t>✔</a:t>
            </a:r>
            <a:r>
              <a:rPr lang="pt-BR" dirty="0"/>
              <a:t> Serviços: 90 dias </a:t>
            </a:r>
          </a:p>
          <a:p>
            <a:endParaRPr lang="pt-BR" dirty="0"/>
          </a:p>
          <a:p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Peças: Garantia do Fabricante</a:t>
            </a:r>
          </a:p>
          <a:p>
            <a:endParaRPr lang="pt-BR" dirty="0"/>
          </a:p>
          <a:p>
            <a:r>
              <a:rPr lang="pt-BR" b="1" dirty="0" err="1">
                <a:solidFill>
                  <a:srgbClr val="FF0000"/>
                </a:solidFill>
              </a:rPr>
              <a:t>Obs</a:t>
            </a:r>
            <a:r>
              <a:rPr lang="pt-BR" b="1" dirty="0">
                <a:solidFill>
                  <a:srgbClr val="FF0000"/>
                </a:solidFill>
              </a:rPr>
              <a:t>:</a:t>
            </a:r>
            <a:r>
              <a:rPr lang="pt-BR" dirty="0"/>
              <a:t> Se ocorrer defeito - não abrir nova OS.</a:t>
            </a:r>
          </a:p>
          <a:p>
            <a:endParaRPr lang="pt-BR" dirty="0"/>
          </a:p>
          <a:p>
            <a:r>
              <a:rPr lang="pt-BR" b="1" dirty="0">
                <a:solidFill>
                  <a:srgbClr val="38393B"/>
                </a:solidFill>
              </a:rPr>
              <a:t>Procedimento: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Acionar garantia.</a:t>
            </a:r>
          </a:p>
          <a:p>
            <a:pPr>
              <a:defRPr sz="2000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3836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402;p66"/>
          <p:cNvSpPr txBox="1"/>
          <p:nvPr/>
        </p:nvSpPr>
        <p:spPr>
          <a:xfrm>
            <a:off x="375454" y="1573813"/>
            <a:ext cx="159000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525" marR="3810" algn="ctr">
              <a:spcBef>
                <a:spcPts val="0"/>
              </a:spcBef>
              <a:spcAft>
                <a:spcPts val="0"/>
              </a:spcAft>
            </a:pPr>
            <a:endParaRPr sz="21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DA5BF2-59C4-C149-739B-355DDE2A497E}"/>
              </a:ext>
            </a:extLst>
          </p:cNvPr>
          <p:cNvSpPr txBox="1"/>
          <p:nvPr/>
        </p:nvSpPr>
        <p:spPr>
          <a:xfrm>
            <a:off x="179512" y="980728"/>
            <a:ext cx="864096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Cumprimento da Etapas</a:t>
            </a:r>
            <a:endParaRPr lang="pt-BR" u="sng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lang="pt-BR" dirty="0">
                <a:solidFill>
                  <a:srgbClr val="92D050"/>
                </a:solidFill>
              </a:rPr>
              <a:t>✅</a:t>
            </a:r>
            <a:r>
              <a:rPr lang="pt-BR" dirty="0"/>
              <a:t> </a:t>
            </a:r>
            <a:r>
              <a:rPr lang="pt-BR" b="1" dirty="0"/>
              <a:t>Benefícios: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Planejamento mais preciso das manutenções;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Redução de falhas no controle dos serviços realizados 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Maior eficiência na manutenção das viaturas.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lang="pt-BR" dirty="0">
                <a:solidFill>
                  <a:srgbClr val="FF0000"/>
                </a:solidFill>
              </a:rPr>
              <a:t>✅</a:t>
            </a:r>
            <a:r>
              <a:rPr lang="pt-BR" dirty="0"/>
              <a:t> </a:t>
            </a:r>
            <a:r>
              <a:rPr lang="pt-BR" b="1" dirty="0"/>
              <a:t>Consequências do descumprimento: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Divergências nas informações e atrasos nos serviços;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Dificuldade no atendimento das demandas operacionais;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/>
              <a:t>Possíveis apontamentos administrativos.</a:t>
            </a:r>
          </a:p>
          <a:p>
            <a:pPr algn="ctr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987622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9512" y="1052736"/>
            <a:ext cx="878497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dirty="0"/>
          </a:p>
          <a:p>
            <a:pPr algn="ctr"/>
            <a:r>
              <a:rPr lang="pt-BR" b="1" u="sng" dirty="0">
                <a:solidFill>
                  <a:srgbClr val="FF0000"/>
                </a:solidFill>
              </a:rPr>
              <a:t>Compromisso com a Transparência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O procedimento correto e justificado das informações fortalece a gestão logística do Corpo de Bombeiros;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Facilita na logística para a manutenção e devolução das viaturas e equipamentos  reparados: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A Seção de Serviços Terceirizados conta com o comprometimento de todas as Unidades, </a:t>
            </a:r>
            <a:r>
              <a:rPr lang="pt-BR" dirty="0" err="1"/>
              <a:t>Motomecs</a:t>
            </a:r>
            <a:r>
              <a:rPr lang="pt-BR" dirty="0"/>
              <a:t> e Responsáveis;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pt-BR" dirty="0">
                <a:solidFill>
                  <a:srgbClr val="00B050"/>
                </a:solidFill>
              </a:rPr>
              <a:t>✔ </a:t>
            </a:r>
            <a:r>
              <a:rPr lang="pt-BR" dirty="0"/>
              <a:t>Os procedimentos descritos nesta nota devem ser utilizados como modelo padrão de referência para a manutenção das viaturas do Corpo de Bombeiros.</a:t>
            </a:r>
          </a:p>
          <a:p>
            <a:pPr algn="ctr"/>
            <a:endParaRPr lang="pt-BR" dirty="0"/>
          </a:p>
          <a:p>
            <a:pPr algn="ctr"/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3212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5013176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FIM</a:t>
            </a:r>
          </a:p>
          <a:p>
            <a:pPr algn="ctr"/>
            <a:endParaRPr lang="pt-BR" sz="1000" dirty="0"/>
          </a:p>
          <a:p>
            <a:pPr algn="ctr"/>
            <a:endParaRPr lang="pt-BR" sz="1000" dirty="0"/>
          </a:p>
          <a:p>
            <a:pPr algn="ctr"/>
            <a:endParaRPr lang="pt-BR" sz="1000" dirty="0"/>
          </a:p>
          <a:p>
            <a:pPr algn="ctr"/>
            <a:r>
              <a:rPr lang="pt-BR" sz="1000" dirty="0"/>
              <a:t>_______________________________________________________________________________________________________________________________</a:t>
            </a:r>
          </a:p>
          <a:p>
            <a:pPr algn="ctr"/>
            <a:r>
              <a:rPr lang="pt-BR" sz="1000" dirty="0"/>
              <a:t>“ Nós, Policiais Militares, sob a proteção de Deus, estamos compromissados com a defesa da Vida, da Integridade Física e da Dignidade da Pessoa Humana”</a:t>
            </a:r>
          </a:p>
        </p:txBody>
      </p:sp>
      <p:pic>
        <p:nvPicPr>
          <p:cNvPr id="1026" name="Picture 2" descr="http://cobom.ccb.policiamilitar.sp.gov.br/portal/638967268356865707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9" y="1600969"/>
            <a:ext cx="1656184" cy="165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376;p65">
            <a:extLst>
              <a:ext uri="{FF2B5EF4-FFF2-40B4-BE49-F238E27FC236}">
                <a16:creationId xmlns:a16="http://schemas.microsoft.com/office/drawing/2014/main" id="{C9E314BC-A65D-49F6-A996-CAFCD80A69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9952" y="1108942"/>
            <a:ext cx="3024337" cy="2952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Figuras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" y="1383597"/>
            <a:ext cx="1831942" cy="192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6" name="Picture 2" descr="Z:\010_Projetos\20. GRAFISMO\Logos e brasões\logo-pm.png">
            <a:extLst>
              <a:ext uri="{FF2B5EF4-FFF2-40B4-BE49-F238E27FC236}">
                <a16:creationId xmlns:a16="http://schemas.microsoft.com/office/drawing/2014/main" id="{26AE8946-5B71-4D2A-A00E-529E313E0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83597"/>
            <a:ext cx="2448272" cy="209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/>
          <p:cNvSpPr/>
          <p:nvPr/>
        </p:nvSpPr>
        <p:spPr>
          <a:xfrm>
            <a:off x="8304" y="2967335"/>
            <a:ext cx="9135696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“Eficiência e Precisão na Informação garantem Segurança e Continuidade nas Operações.”</a:t>
            </a:r>
          </a:p>
        </p:txBody>
      </p:sp>
    </p:spTree>
    <p:extLst>
      <p:ext uri="{BB962C8B-B14F-4D97-AF65-F5344CB8AC3E}">
        <p14:creationId xmlns:p14="http://schemas.microsoft.com/office/powerpoint/2010/main" val="16514478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6106</TotalTime>
  <Words>805</Words>
  <Application>Microsoft Office PowerPoint</Application>
  <PresentationFormat>Apresentação na tela (4:3)</PresentationFormat>
  <Paragraphs>275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AlternateGothic2 BT</vt:lpstr>
      <vt:lpstr>Arial</vt:lpstr>
      <vt:lpstr>Calibri</vt:lpstr>
      <vt:lpstr>Century Gothic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GISLENE REGINA SGRIGNEIRO NUNES DOMINGUES</dc:creator>
  <cp:lastModifiedBy>THIAGO DE OLIVEIRA NOVAES</cp:lastModifiedBy>
  <cp:revision>195</cp:revision>
  <dcterms:created xsi:type="dcterms:W3CDTF">2017-10-26T11:27:58Z</dcterms:created>
  <dcterms:modified xsi:type="dcterms:W3CDTF">2026-07-01T11:42:32Z</dcterms:modified>
</cp:coreProperties>
</file>